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434017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73116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944612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55466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154583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518349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65212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608675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37588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931034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236570"/>
      </p:ext>
    </p:extLst>
  </p:cSld>
  <p:clrMapOvr>
    <a:masterClrMapping/>
  </p:clrMapOvr>
  <p:transition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3645253"/>
      </p:ext>
    </p:extLst>
  </p:cSld>
  <p:clrMapOvr>
    <a:masterClrMapping/>
  </p:clrMapOvr>
  <p:transition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591396"/>
      </p:ext>
    </p:extLst>
  </p:cSld>
  <p:clrMapOvr>
    <a:masterClrMapping/>
  </p:clrMapOvr>
  <p:transition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295758"/>
      </p:ext>
    </p:extLst>
  </p:cSld>
  <p:clrMapOvr>
    <a:masterClrMapping/>
  </p:clrMapOvr>
  <p:transition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96712"/>
      </p:ext>
    </p:extLst>
  </p:cSld>
  <p:clrMapOvr>
    <a:masterClrMapping/>
  </p:clrMapOvr>
  <p:transition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844667"/>
      </p:ext>
    </p:extLst>
  </p:cSld>
  <p:clrMapOvr>
    <a:masterClrMapping/>
  </p:clrMapOvr>
  <p:transition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150906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9A390-4E51-47C8-8119-76FBEE19FE0B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3CA17-F1FF-4EBD-A85E-38B2FB0BC2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304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784B-22AB-9ECA-B880-5EE6BC863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846" y="433754"/>
            <a:ext cx="11488616" cy="3076209"/>
          </a:xfrm>
        </p:spPr>
        <p:txBody>
          <a:bodyPr>
            <a:normAutofit/>
          </a:bodyPr>
          <a:lstStyle/>
          <a:p>
            <a:r>
              <a:rPr lang="en-US" b="1" dirty="0"/>
              <a:t>Brain Tumor Patient Analysis </a:t>
            </a:r>
            <a:r>
              <a:rPr lang="en-US" b="1" dirty="0" err="1"/>
              <a:t>Dashoard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751E3-047B-FC9D-EEF8-22805363A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88608"/>
          </a:xfrm>
        </p:spPr>
        <p:txBody>
          <a:bodyPr/>
          <a:lstStyle/>
          <a:p>
            <a:r>
              <a:rPr lang="en-US" dirty="0"/>
              <a:t>Patient Distribution, Treatment Coverage &amp; Follow-up Insights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CC244-2C6E-F775-F348-341DECA692BB}"/>
              </a:ext>
            </a:extLst>
          </p:cNvPr>
          <p:cNvSpPr txBox="1"/>
          <p:nvPr/>
        </p:nvSpPr>
        <p:spPr>
          <a:xfrm>
            <a:off x="422030" y="4513385"/>
            <a:ext cx="46306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Domain</a:t>
            </a:r>
            <a:r>
              <a:rPr lang="en-US" dirty="0"/>
              <a:t>: Healthcare Analytics</a:t>
            </a:r>
          </a:p>
          <a:p>
            <a:endParaRPr lang="en-US" dirty="0"/>
          </a:p>
          <a:p>
            <a:r>
              <a:rPr lang="en-US" b="1" dirty="0"/>
              <a:t>Tool</a:t>
            </a:r>
            <a:r>
              <a:rPr lang="en-US" dirty="0"/>
              <a:t> :Power BI</a:t>
            </a:r>
          </a:p>
          <a:p>
            <a:endParaRPr lang="en-US" dirty="0"/>
          </a:p>
          <a:p>
            <a:r>
              <a:rPr lang="en-US" b="1" dirty="0"/>
              <a:t>Dataset: </a:t>
            </a:r>
            <a:r>
              <a:rPr lang="en-US" dirty="0"/>
              <a:t>Brain Tumor Patient Records</a:t>
            </a:r>
          </a:p>
          <a:p>
            <a:endParaRPr lang="en-US" dirty="0"/>
          </a:p>
          <a:p>
            <a:r>
              <a:rPr lang="en-US" b="1" dirty="0"/>
              <a:t>Presented by: </a:t>
            </a:r>
            <a:r>
              <a:rPr lang="en-US" dirty="0"/>
              <a:t>Ruchi Rajput</a:t>
            </a:r>
          </a:p>
        </p:txBody>
      </p:sp>
    </p:spTree>
    <p:extLst>
      <p:ext uri="{BB962C8B-B14F-4D97-AF65-F5344CB8AC3E}">
        <p14:creationId xmlns:p14="http://schemas.microsoft.com/office/powerpoint/2010/main" val="1370667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43FA-954F-34DE-E458-FA3A81C3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Agenda </a:t>
            </a:r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9A88E-8C73-DF69-B878-7D63F3B9A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Objective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KPIs Used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Insights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Recommendations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BRD-Summarized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 Report Summary</a:t>
            </a:r>
          </a:p>
        </p:txBody>
      </p:sp>
    </p:spTree>
    <p:extLst>
      <p:ext uri="{BB962C8B-B14F-4D97-AF65-F5344CB8AC3E}">
        <p14:creationId xmlns:p14="http://schemas.microsoft.com/office/powerpoint/2010/main" val="403317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0167-B78F-A294-10C3-44464045C5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68338"/>
            <a:ext cx="7132638" cy="1852612"/>
          </a:xfrm>
        </p:spPr>
        <p:txBody>
          <a:bodyPr>
            <a:normAutofit/>
          </a:bodyPr>
          <a:lstStyle/>
          <a:p>
            <a:r>
              <a:rPr lang="en-US" dirty="0"/>
              <a:t>Objective:-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740E4-14A0-5FF7-693E-B20D49C0FE2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3429000"/>
            <a:ext cx="10515600" cy="2819400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Analyze brain tumor patient data</a:t>
            </a:r>
          </a:p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Understand tumor distribution by age, gender, type, and stage</a:t>
            </a:r>
          </a:p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Identify patterns by age, gender, tumor type &amp; stage</a:t>
            </a:r>
          </a:p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Evaluate treatment impact on survival rate</a:t>
            </a:r>
          </a:p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Support medical decision-making using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8522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number&#10;&#10;AI-generated content may be incorrect.">
            <a:extLst>
              <a:ext uri="{FF2B5EF4-FFF2-40B4-BE49-F238E27FC236}">
                <a16:creationId xmlns:a16="http://schemas.microsoft.com/office/drawing/2014/main" id="{3AB6C17D-D348-6412-384C-A646AABB9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584" y="1455500"/>
            <a:ext cx="2135669" cy="1588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31B188-A3E6-3921-45C9-ED9131DAFF48}"/>
              </a:ext>
            </a:extLst>
          </p:cNvPr>
          <p:cNvSpPr txBox="1"/>
          <p:nvPr/>
        </p:nvSpPr>
        <p:spPr>
          <a:xfrm>
            <a:off x="697831" y="493295"/>
            <a:ext cx="5871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KPIs Used:-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731E7-8C16-4D93-830F-A38EB59A799A}"/>
              </a:ext>
            </a:extLst>
          </p:cNvPr>
          <p:cNvSpPr txBox="1"/>
          <p:nvPr/>
        </p:nvSpPr>
        <p:spPr>
          <a:xfrm>
            <a:off x="475248" y="1455500"/>
            <a:ext cx="41689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Total Patients</a:t>
            </a:r>
          </a:p>
          <a:p>
            <a:endParaRPr lang="en-IN" dirty="0"/>
          </a:p>
          <a:p>
            <a:r>
              <a:rPr lang="en-IN" dirty="0"/>
              <a:t>• Average Survival Rate</a:t>
            </a:r>
          </a:p>
          <a:p>
            <a:endParaRPr lang="en-IN" dirty="0"/>
          </a:p>
          <a:p>
            <a:r>
              <a:rPr lang="en-IN" dirty="0"/>
              <a:t>• Count of  </a:t>
            </a:r>
            <a:r>
              <a:rPr lang="en-IN" dirty="0" err="1"/>
              <a:t>Tumor</a:t>
            </a:r>
            <a:r>
              <a:rPr lang="en-IN" dirty="0"/>
              <a:t> Type</a:t>
            </a:r>
          </a:p>
          <a:p>
            <a:endParaRPr lang="en-IN" dirty="0"/>
          </a:p>
          <a:p>
            <a:r>
              <a:rPr lang="en-IN" dirty="0"/>
              <a:t>• Count of </a:t>
            </a:r>
            <a:r>
              <a:rPr lang="en-IN" dirty="0" err="1"/>
              <a:t>Tumor</a:t>
            </a:r>
            <a:r>
              <a:rPr lang="en-IN" dirty="0"/>
              <a:t> Stage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D6F4E2-B07F-14F9-B984-A8E8717C5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821" y="1393821"/>
            <a:ext cx="2135669" cy="158880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256511-0B13-4061-C060-B5E40F77D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095" y="3405986"/>
            <a:ext cx="1966066" cy="1707435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9091B9-3A74-AB46-6612-F1532BCC4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544" y="3410510"/>
            <a:ext cx="1987946" cy="17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88297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C33E-3255-9762-BE9E-E8D36E8F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741"/>
            <a:ext cx="10515600" cy="744704"/>
          </a:xfrm>
        </p:spPr>
        <p:txBody>
          <a:bodyPr>
            <a:normAutofit/>
          </a:bodyPr>
          <a:lstStyle/>
          <a:p>
            <a:r>
              <a:rPr lang="en-US" dirty="0"/>
              <a:t>Key Insights:-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56C26-AC19-5474-5453-8B0CF0AE6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555" y="1677820"/>
            <a:ext cx="4594392" cy="4109369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“The majority of brain tumor patients fall in the 41–60 age group, indicating middle-aged adults represent the most affected population segment in this dataset.”</a:t>
            </a:r>
            <a:endParaRPr lang="en-I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graph of a patient distribution&#10;&#10;AI-generated content may be incorrect.">
            <a:extLst>
              <a:ext uri="{FF2B5EF4-FFF2-40B4-BE49-F238E27FC236}">
                <a16:creationId xmlns:a16="http://schemas.microsoft.com/office/drawing/2014/main" id="{CD85776C-313D-0B66-AD3C-EDD52B17A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014" y="1795182"/>
            <a:ext cx="5763985" cy="5062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138B12-D83D-5FF3-8ABA-03AC6509C603}"/>
              </a:ext>
            </a:extLst>
          </p:cNvPr>
          <p:cNvSpPr txBox="1"/>
          <p:nvPr/>
        </p:nvSpPr>
        <p:spPr>
          <a:xfrm>
            <a:off x="0" y="879445"/>
            <a:ext cx="11462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1.Patient Distribution by Age Group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9694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">
            <a:extLst>
              <a:ext uri="{FF2B5EF4-FFF2-40B4-BE49-F238E27FC236}">
                <a16:creationId xmlns:a16="http://schemas.microsoft.com/office/drawing/2014/main" id="{21D967BA-E688-7A45-E31F-6F8E48342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169" y="1322614"/>
            <a:ext cx="6201688" cy="5192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9B4F7B-0AE1-4BE9-9EA7-A1EF3CEAAD03}"/>
              </a:ext>
            </a:extLst>
          </p:cNvPr>
          <p:cNvSpPr txBox="1"/>
          <p:nvPr/>
        </p:nvSpPr>
        <p:spPr>
          <a:xfrm>
            <a:off x="391885" y="228600"/>
            <a:ext cx="10499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2.MRI Result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D245F0-94E3-A102-551E-F4E5EAEE40EF}"/>
              </a:ext>
            </a:extLst>
          </p:cNvPr>
          <p:cNvSpPr txBox="1"/>
          <p:nvPr/>
        </p:nvSpPr>
        <p:spPr>
          <a:xfrm>
            <a:off x="0" y="1498341"/>
            <a:ext cx="519520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“This chart shows the distribution of MRI diagnostic results among patients, helping identify the prevalence of abnormal findings and potential diagnostic burden.”</a:t>
            </a:r>
            <a:endParaRPr lang="en-IN" sz="4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92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6367-DEAE-6476-DFEC-2D5D65CF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" y="326570"/>
            <a:ext cx="10515600" cy="886505"/>
          </a:xfrm>
        </p:spPr>
        <p:txBody>
          <a:bodyPr>
            <a:normAutofit/>
          </a:bodyPr>
          <a:lstStyle/>
          <a:p>
            <a:r>
              <a:rPr lang="en-US" dirty="0"/>
              <a:t>3.Patient Distribution by Tumor Type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7E35A-5D1D-37CE-FB0D-7438923C4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83873"/>
            <a:ext cx="4687207" cy="4505778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“This visual highlights the most prevalent tumor types among patients, helping identify areas that may require greater clinical focus and resource allocation.”</a:t>
            </a:r>
            <a:endParaRPr lang="en-IN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screenshot of a medical survey">
            <a:extLst>
              <a:ext uri="{FF2B5EF4-FFF2-40B4-BE49-F238E27FC236}">
                <a16:creationId xmlns:a16="http://schemas.microsoft.com/office/drawing/2014/main" id="{FB33A052-9AEC-581D-DA8E-71272A05B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57" y="1649640"/>
            <a:ext cx="6234525" cy="450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2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069B-EDBD-28C4-4D41-46B6D8873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22" y="341426"/>
            <a:ext cx="10515600" cy="853848"/>
          </a:xfrm>
        </p:spPr>
        <p:txBody>
          <a:bodyPr>
            <a:noAutofit/>
          </a:bodyPr>
          <a:lstStyle/>
          <a:p>
            <a:r>
              <a:rPr lang="en-US" sz="4400" dirty="0"/>
              <a:t>4. Patient Distribution by Cancer Stage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EDB82-68CC-BD1F-7CF7-E0FC5B406F1A}"/>
              </a:ext>
            </a:extLst>
          </p:cNvPr>
          <p:cNvSpPr txBox="1"/>
          <p:nvPr/>
        </p:nvSpPr>
        <p:spPr>
          <a:xfrm>
            <a:off x="309335" y="1652362"/>
            <a:ext cx="59118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“Most patients in the dataset are diagnosed at Stage 2, indicating that a significant portion of cases are identified at an intermediate stage of disease progression.”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DCAF9B-2790-F278-4B65-073C654C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422" y="1485900"/>
            <a:ext cx="5911851" cy="456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72123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E9E7-827B-5D63-BBCE-F93C17D8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6" y="942296"/>
            <a:ext cx="10515600" cy="1066118"/>
          </a:xfrm>
        </p:spPr>
        <p:txBody>
          <a:bodyPr>
            <a:normAutofit/>
          </a:bodyPr>
          <a:lstStyle/>
          <a:p>
            <a:r>
              <a:rPr lang="en-IN" dirty="0"/>
              <a:t>5.Surgery Coverage Among Patients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76CA6-5F5B-CFA2-9971-917F73687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336" y="2405968"/>
            <a:ext cx="6369050" cy="3509736"/>
          </a:xfrm>
        </p:spPr>
        <p:txBody>
          <a:bodyPr>
            <a:normAutofit fontScale="77500" lnSpcReduction="2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“A majority of patients in the dataset have undergone surgical treatment, indicating surgery is a commonly adopted intervention for brain tumor cases.</a:t>
            </a:r>
            <a:endParaRPr lang="en-IN" sz="40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92D4AE-B07F-10A2-8A4F-C30E1A252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387" y="2269671"/>
            <a:ext cx="4865914" cy="42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5862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9F95-87AA-47E3-5C22-6C26DD3FF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21" y="571160"/>
            <a:ext cx="10515600" cy="723219"/>
          </a:xfrm>
        </p:spPr>
        <p:txBody>
          <a:bodyPr>
            <a:normAutofit/>
          </a:bodyPr>
          <a:lstStyle/>
          <a:p>
            <a:r>
              <a:rPr lang="en-US" dirty="0"/>
              <a:t>6.</a:t>
            </a:r>
            <a:r>
              <a:rPr lang="en-IN" dirty="0"/>
              <a:t> Radiation Treatment Coverage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AB525-42D9-273B-4B79-B73B3A780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321" y="1637279"/>
            <a:ext cx="5944507" cy="4795271"/>
          </a:xfrm>
        </p:spPr>
        <p:txBody>
          <a:bodyPr>
            <a:normAutofit lnSpcReduction="1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“Radiation therapy has been administered to a majority of patients, indicating it is a widely used treatment modality alongside surgery.”</a:t>
            </a:r>
            <a:endParaRPr lang="en-IN" sz="4000" dirty="0">
              <a:solidFill>
                <a:schemeClr val="tx1"/>
              </a:solidFill>
            </a:endParaRPr>
          </a:p>
        </p:txBody>
      </p:sp>
      <p:pic>
        <p:nvPicPr>
          <p:cNvPr id="5" name="Picture 4" descr="A blue circle with text and numbers&#10;&#10;AI-generated content may be incorrect.">
            <a:extLst>
              <a:ext uri="{FF2B5EF4-FFF2-40B4-BE49-F238E27FC236}">
                <a16:creationId xmlns:a16="http://schemas.microsoft.com/office/drawing/2014/main" id="{F2BF2EAE-362E-6B5D-2607-30A238964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529" y="1545063"/>
            <a:ext cx="5027128" cy="497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59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8FAA-0E73-6621-1E10-8A72D8534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92" y="550409"/>
            <a:ext cx="10515600" cy="1000805"/>
          </a:xfrm>
        </p:spPr>
        <p:txBody>
          <a:bodyPr>
            <a:normAutofit/>
          </a:bodyPr>
          <a:lstStyle/>
          <a:p>
            <a:r>
              <a:rPr lang="en-IN" dirty="0"/>
              <a:t>7.Chemotherapy Treatment Coverage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18F21-F234-6630-75D5-399B6954E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707" y="1682977"/>
            <a:ext cx="4964793" cy="4624614"/>
          </a:xfrm>
        </p:spPr>
        <p:txBody>
          <a:bodyPr>
            <a:normAutofit fontScale="77500" lnSpcReduction="2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“Chemotherapy usage is evenly distributed among patients, suggesting it is applied selectively based on patient condition rather than as a standard treatment for all cases.”</a:t>
            </a:r>
            <a:endParaRPr lang="en-IN" sz="4000" dirty="0">
              <a:solidFill>
                <a:schemeClr val="tx1"/>
              </a:solidFill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DE92A8FB-01C3-0A80-5A0D-A302B8E8A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386" y="1755081"/>
            <a:ext cx="5431971" cy="45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1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41B1-D4EB-758A-EB71-4F75C59C9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648380"/>
            <a:ext cx="10515600" cy="1500187"/>
          </a:xfrm>
        </p:spPr>
        <p:txBody>
          <a:bodyPr>
            <a:normAutofit/>
          </a:bodyPr>
          <a:lstStyle/>
          <a:p>
            <a:r>
              <a:rPr lang="en-US" dirty="0"/>
              <a:t>Recommendations:-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0A062-C061-FAC8-B6EC-218C7B63F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650" y="2268537"/>
            <a:ext cx="10515600" cy="3941083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• Early-stage detection programs</a:t>
            </a:r>
          </a:p>
          <a:p>
            <a:r>
              <a:rPr lang="en-US" sz="3200" dirty="0">
                <a:solidFill>
                  <a:schemeClr val="tx1"/>
                </a:solidFill>
              </a:rPr>
              <a:t>• Combine surgery with chemotherapy for malignant cases</a:t>
            </a:r>
          </a:p>
          <a:p>
            <a:r>
              <a:rPr lang="en-US" sz="3200" dirty="0">
                <a:solidFill>
                  <a:schemeClr val="tx1"/>
                </a:solidFill>
              </a:rPr>
              <a:t>• Regular MRI scans for high-risk patients</a:t>
            </a:r>
          </a:p>
          <a:p>
            <a:r>
              <a:rPr lang="en-US" sz="3200" dirty="0">
                <a:solidFill>
                  <a:schemeClr val="tx1"/>
                </a:solidFill>
              </a:rPr>
              <a:t>• Focused monitoring for Stage III &amp; IV patients</a:t>
            </a:r>
          </a:p>
          <a:p>
            <a:r>
              <a:rPr lang="en-US" sz="3200" dirty="0">
                <a:solidFill>
                  <a:schemeClr val="tx1"/>
                </a:solidFill>
              </a:rPr>
              <a:t>• Age-based preventive screening</a:t>
            </a:r>
          </a:p>
        </p:txBody>
      </p:sp>
    </p:spTree>
    <p:extLst>
      <p:ext uri="{BB962C8B-B14F-4D97-AF65-F5344CB8AC3E}">
        <p14:creationId xmlns:p14="http://schemas.microsoft.com/office/powerpoint/2010/main" val="295298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80577-1681-B1D2-975C-932A821D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35" y="768350"/>
            <a:ext cx="10515600" cy="1729921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Business Requirement Document (BRD)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946CB-7D71-55D8-EFFA-D6BB072DD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036" y="2890157"/>
            <a:ext cx="10515600" cy="3706586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Business Goal:</a:t>
            </a:r>
          </a:p>
          <a:p>
            <a:r>
              <a:rPr lang="en-US" sz="2800" dirty="0">
                <a:solidFill>
                  <a:schemeClr val="tx1"/>
                </a:solidFill>
              </a:rPr>
              <a:t>Improve clinical insight &amp; treatment planning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Stakeholders:</a:t>
            </a:r>
          </a:p>
          <a:p>
            <a:r>
              <a:rPr lang="en-US" sz="2800" dirty="0">
                <a:solidFill>
                  <a:schemeClr val="tx1"/>
                </a:solidFill>
              </a:rPr>
              <a:t>Doctors, Hospital Admin, Analysts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KPIs:</a:t>
            </a:r>
          </a:p>
          <a:p>
            <a:r>
              <a:rPr lang="en-US" sz="2800" dirty="0">
                <a:solidFill>
                  <a:schemeClr val="tx1"/>
                </a:solidFill>
              </a:rPr>
              <a:t>Survival Rate, Tumor Type, Stage, Treatment</a:t>
            </a:r>
          </a:p>
        </p:txBody>
      </p:sp>
    </p:spTree>
    <p:extLst>
      <p:ext uri="{BB962C8B-B14F-4D97-AF65-F5344CB8AC3E}">
        <p14:creationId xmlns:p14="http://schemas.microsoft.com/office/powerpoint/2010/main" val="286528212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5B44-AF61-DCFC-1ED0-ABD4964B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07" y="468768"/>
            <a:ext cx="10515600" cy="1213076"/>
          </a:xfrm>
        </p:spPr>
        <p:txBody>
          <a:bodyPr/>
          <a:lstStyle/>
          <a:p>
            <a:pPr algn="ctr"/>
            <a:r>
              <a:rPr lang="en-US" b="1" dirty="0"/>
              <a:t>Final Report Summary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9B8D7-069D-18EB-B1F2-CE23C363F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171701"/>
            <a:ext cx="10515600" cy="435972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/>
                </a:solidFill>
              </a:rPr>
              <a:t>This Power BI dashboard provides a comprehensive view of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/>
                </a:solidFill>
              </a:rPr>
              <a:t>brain tumor patient data. It highlights critical trends 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/>
                </a:solidFill>
              </a:rPr>
              <a:t>tumor stages, treatment effectiveness, and survival outcomes.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/>
                </a:solidFill>
              </a:rPr>
              <a:t>The dashboard enables data-driven healthcare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952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35CF-004C-4739-FCD5-51DC543AA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b="1" dirty="0"/>
              <a:t>Thank You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3741530834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116</TotalTime>
  <Words>445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Brain Tumor Patient Analysis Dashoard</vt:lpstr>
      <vt:lpstr>Agenda </vt:lpstr>
      <vt:lpstr>Objective:-</vt:lpstr>
      <vt:lpstr>PowerPoint Presentation</vt:lpstr>
      <vt:lpstr>Key Insights:-</vt:lpstr>
      <vt:lpstr>PowerPoint Presentation</vt:lpstr>
      <vt:lpstr>3.Patient Distribution by Tumor Type</vt:lpstr>
      <vt:lpstr>4. Patient Distribution by Cancer Stage</vt:lpstr>
      <vt:lpstr>5.Surgery Coverage Among Patients</vt:lpstr>
      <vt:lpstr>6. Radiation Treatment Coverage</vt:lpstr>
      <vt:lpstr>7.Chemotherapy Treatment Coverage</vt:lpstr>
      <vt:lpstr>Recommendations:-</vt:lpstr>
      <vt:lpstr>Business Requirement Document (BRD)</vt:lpstr>
      <vt:lpstr>Final Report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 Rajput</dc:creator>
  <cp:lastModifiedBy>Ruchi Rajput</cp:lastModifiedBy>
  <cp:revision>2</cp:revision>
  <dcterms:created xsi:type="dcterms:W3CDTF">2025-12-28T18:03:42Z</dcterms:created>
  <dcterms:modified xsi:type="dcterms:W3CDTF">2025-12-28T20:02:41Z</dcterms:modified>
</cp:coreProperties>
</file>